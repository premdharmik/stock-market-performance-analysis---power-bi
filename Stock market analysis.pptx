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0"/>
  </p:notesMasterIdLst>
  <p:handoutMasterIdLst>
    <p:handoutMasterId r:id="rId11"/>
  </p:handoutMasterIdLst>
  <p:sldIdLst>
    <p:sldId id="256" r:id="rId5"/>
    <p:sldId id="277" r:id="rId6"/>
    <p:sldId id="261" r:id="rId7"/>
    <p:sldId id="262" r:id="rId8"/>
    <p:sldId id="289"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106" d="100"/>
          <a:sy n="106" d="100"/>
        </p:scale>
        <p:origin x="792" y="9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commentAuthors" Target="commentAuthors.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11/1/2025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11/1/2025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416040" y="4434840"/>
            <a:ext cx="4941771" cy="1122202"/>
          </a:xfrm>
        </p:spPr>
        <p:txBody>
          <a:bodyPr/>
          <a:lstStyle/>
          <a:p>
            <a:r>
              <a:rPr lang="en-US" dirty="0"/>
              <a:t>Stock market analysis</a:t>
            </a:r>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787652" y="353086"/>
            <a:ext cx="3171825" cy="1325563"/>
          </a:xfrm>
        </p:spPr>
        <p:txBody>
          <a:bodyPr/>
          <a:lstStyle/>
          <a:p>
            <a:r>
              <a:rPr lang="en-US" dirty="0"/>
              <a:t>ABOUT project</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787652" y="2046083"/>
            <a:ext cx="5133315" cy="4879818"/>
          </a:xfrm>
        </p:spPr>
        <p:txBody>
          <a:bodyPr>
            <a:normAutofit/>
          </a:bodyPr>
          <a:lstStyle/>
          <a:p>
            <a:r>
              <a:rPr lang="en-US" dirty="0"/>
              <a:t>This task focused on analyzing and comparing the stock market performance of Apple, Microsoft, Netflix, and Google using a three-month historical dataset. The goal was to identify key trends, patterns, and relationships through a structured data science approach. The methodology included calculating moving averages to identify trends, determining volatility to assess risk, and performing correlation analysis to understand the co-movement between the different stocks. The results provide a clear, quantitative comparison of each company's performance characteristics and their relational dynamics within the tech sector.</a:t>
            </a:r>
            <a:br>
              <a:rPr lang="en-US" dirty="0"/>
            </a:br>
            <a:endParaRPr lang="en-US" dirty="0"/>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5536305" y="6356350"/>
            <a:ext cx="987552" cy="365125"/>
          </a:xfrm>
        </p:spPr>
        <p:txBody>
          <a:bodyPr/>
          <a:lstStyle/>
          <a:p>
            <a:fld id="{19B51A1E-902D-48AF-9020-955120F399B6}" type="slidenum">
              <a:rPr lang="en-US" smtClean="0"/>
              <a:pPr/>
              <a:t>2</a:t>
            </a:fld>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12">
            <a:extLst>
              <a:ext uri="{FF2B5EF4-FFF2-40B4-BE49-F238E27FC236}">
                <a16:creationId xmlns:a16="http://schemas.microsoft.com/office/drawing/2014/main" id="{E3984D70-BD95-4E1F-9725-902B5D74DED6}"/>
              </a:ext>
            </a:extLst>
          </p:cNvPr>
          <p:cNvSpPr>
            <a:spLocks noGrp="1"/>
          </p:cNvSpPr>
          <p:nvPr>
            <p:ph type="sldNum" sz="quarter" idx="12"/>
          </p:nvPr>
        </p:nvSpPr>
        <p:spPr>
          <a:xfrm>
            <a:off x="10810874" y="6356350"/>
            <a:ext cx="542925" cy="365125"/>
          </a:xfrm>
        </p:spPr>
        <p:txBody>
          <a:bodyPr/>
          <a:lstStyle/>
          <a:p>
            <a:fld id="{B5CEABB6-07DC-46E8-9B57-56EC44A396E5}" type="slidenum">
              <a:rPr lang="en-US" smtClean="0"/>
              <a:pPr/>
              <a:t>3</a:t>
            </a:fld>
            <a:endParaRPr lang="en-US" dirty="0"/>
          </a:p>
        </p:txBody>
      </p:sp>
      <p:pic>
        <p:nvPicPr>
          <p:cNvPr id="33" name="Picture 32">
            <a:extLst>
              <a:ext uri="{FF2B5EF4-FFF2-40B4-BE49-F238E27FC236}">
                <a16:creationId xmlns:a16="http://schemas.microsoft.com/office/drawing/2014/main" id="{9DAFEA1F-6E77-007D-814B-E6FB6B2AA03B}"/>
              </a:ext>
            </a:extLst>
          </p:cNvPr>
          <p:cNvPicPr>
            <a:picLocks noChangeAspect="1"/>
          </p:cNvPicPr>
          <p:nvPr/>
        </p:nvPicPr>
        <p:blipFill>
          <a:blip r:embed="rId2"/>
          <a:stretch>
            <a:fillRect/>
          </a:stretch>
        </p:blipFill>
        <p:spPr>
          <a:xfrm>
            <a:off x="1091560" y="1167335"/>
            <a:ext cx="9357029" cy="5189015"/>
          </a:xfrm>
          <a:prstGeom prst="rect">
            <a:avLst/>
          </a:prstGeom>
        </p:spPr>
      </p:pic>
      <p:sp>
        <p:nvSpPr>
          <p:cNvPr id="34" name="Title 1">
            <a:extLst>
              <a:ext uri="{FF2B5EF4-FFF2-40B4-BE49-F238E27FC236}">
                <a16:creationId xmlns:a16="http://schemas.microsoft.com/office/drawing/2014/main" id="{B913C06A-F643-6BA2-83A6-73BFE8E19FEC}"/>
              </a:ext>
              <a:ext uri="{C183D7F6-B498-43B3-948B-1728B52AA6E4}">
                <adec:decorative xmlns:adec="http://schemas.microsoft.com/office/drawing/2017/decorative" val="0"/>
              </a:ext>
            </a:extLst>
          </p:cNvPr>
          <p:cNvSpPr>
            <a:spLocks noGrp="1"/>
          </p:cNvSpPr>
          <p:nvPr>
            <p:ph type="title"/>
          </p:nvPr>
        </p:nvSpPr>
        <p:spPr>
          <a:xfrm>
            <a:off x="615636" y="0"/>
            <a:ext cx="6346479" cy="1325563"/>
          </a:xfrm>
        </p:spPr>
        <p:txBody>
          <a:bodyPr/>
          <a:lstStyle/>
          <a:p>
            <a:r>
              <a:rPr lang="en-US" dirty="0"/>
              <a:t>Power BI dashboard overview</a:t>
            </a:r>
          </a:p>
        </p:txBody>
      </p:sp>
    </p:spTree>
    <p:extLst>
      <p:ext uri="{BB962C8B-B14F-4D97-AF65-F5344CB8AC3E}">
        <p14:creationId xmlns:p14="http://schemas.microsoft.com/office/powerpoint/2010/main" val="173856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805758" y="518878"/>
            <a:ext cx="4031945" cy="365125"/>
          </a:xfrm>
        </p:spPr>
        <p:txBody>
          <a:bodyPr vert="horz" lIns="91440" tIns="45720" rIns="91440" bIns="45720" rtlCol="0" anchor="t">
            <a:normAutofit lnSpcReduction="10000"/>
          </a:bodyPr>
          <a:lstStyle/>
          <a:p>
            <a:r>
              <a:rPr lang="en-US" b="1" dirty="0"/>
              <a:t>Line Chart - Price Trend</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805758" y="1025112"/>
            <a:ext cx="4031030" cy="1057308"/>
          </a:xfrm>
        </p:spPr>
        <p:txBody>
          <a:bodyPr>
            <a:normAutofit fontScale="92500" lnSpcReduction="20000"/>
          </a:bodyPr>
          <a:lstStyle/>
          <a:p>
            <a:r>
              <a:rPr lang="en-US" dirty="0"/>
              <a:t>The line chart is the best way to visualize the </a:t>
            </a:r>
            <a:r>
              <a:rPr lang="en-US" b="1" dirty="0"/>
              <a:t>trend and movement of a stock's closing price over time</a:t>
            </a:r>
            <a:r>
              <a:rPr lang="en-US" dirty="0"/>
              <a:t>. It clearly shows upward, downward, or sideways momentum. Adding the Ticker to the Legend allows you to compare multiple stocks on the same graph.</a:t>
            </a:r>
            <a:br>
              <a:rPr lang="en-US" dirty="0"/>
            </a:br>
            <a:endParaRPr lang="en-US" dirty="0"/>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16"/>
          </p:nvPr>
        </p:nvSpPr>
        <p:spPr>
          <a:xfrm>
            <a:off x="6672228" y="518878"/>
            <a:ext cx="4031945" cy="365125"/>
          </a:xfrm>
        </p:spPr>
        <p:txBody>
          <a:bodyPr>
            <a:normAutofit lnSpcReduction="10000"/>
          </a:bodyPr>
          <a:lstStyle/>
          <a:p>
            <a:r>
              <a:rPr lang="en-US" b="1" dirty="0"/>
              <a:t>Gauge Chart</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17"/>
          </p:nvPr>
        </p:nvSpPr>
        <p:spPr>
          <a:xfrm>
            <a:off x="6595085" y="1025112"/>
            <a:ext cx="4031030" cy="1057308"/>
          </a:xfrm>
        </p:spPr>
        <p:txBody>
          <a:bodyPr>
            <a:normAutofit lnSpcReduction="10000"/>
          </a:bodyPr>
          <a:lstStyle/>
          <a:p>
            <a:r>
              <a:rPr lang="en-US" dirty="0"/>
              <a:t>This gives a fantastic </a:t>
            </a:r>
            <a:r>
              <a:rPr lang="en-US" b="1" dirty="0"/>
              <a:t>quick-glance performance indicator</a:t>
            </a:r>
            <a:r>
              <a:rPr lang="en-US" dirty="0"/>
              <a:t>. The needle shows how close the current price is to its yearly high. If the needle is near the top (green), the stock is performing very well. If it's near the bottom (red), it's near its lows.</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18"/>
          </p:nvPr>
        </p:nvSpPr>
        <p:spPr>
          <a:xfrm>
            <a:off x="805758" y="2555060"/>
            <a:ext cx="4031945" cy="365125"/>
          </a:xfrm>
        </p:spPr>
        <p:txBody>
          <a:bodyPr>
            <a:normAutofit lnSpcReduction="10000"/>
          </a:bodyPr>
          <a:lstStyle/>
          <a:p>
            <a:r>
              <a:rPr lang="en-US" b="1" dirty="0"/>
              <a:t>Bar Chart - Daily Volume</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19"/>
          </p:nvPr>
        </p:nvSpPr>
        <p:spPr>
          <a:xfrm>
            <a:off x="805758" y="3429000"/>
            <a:ext cx="4031030" cy="1057308"/>
          </a:xfrm>
        </p:spPr>
        <p:txBody>
          <a:bodyPr>
            <a:normAutofit fontScale="92500" lnSpcReduction="20000"/>
          </a:bodyPr>
          <a:lstStyle/>
          <a:p>
            <a:r>
              <a:rPr lang="en-US" dirty="0"/>
              <a:t>A bar chart is ideal for comparing </a:t>
            </a:r>
            <a:r>
              <a:rPr lang="en-US" b="1" dirty="0"/>
              <a:t>quantities across categories</a:t>
            </a:r>
            <a:r>
              <a:rPr lang="en-US" dirty="0"/>
              <a:t> (each day is a category). It effectively shows spikes in trading volume, which often correspond to important news or price movements, providing context to the price trend above it.</a:t>
            </a:r>
            <a:br>
              <a:rPr lang="en-US" dirty="0"/>
            </a:br>
            <a:endParaRPr lang="en-US" dirty="0"/>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3"/>
          </p:nvPr>
        </p:nvSpPr>
        <p:spPr>
          <a:xfrm>
            <a:off x="6594170" y="2563122"/>
            <a:ext cx="4031945" cy="365125"/>
          </a:xfrm>
        </p:spPr>
        <p:txBody>
          <a:bodyPr>
            <a:normAutofit lnSpcReduction="10000"/>
          </a:bodyPr>
          <a:lstStyle/>
          <a:p>
            <a:r>
              <a:rPr lang="en-US" b="1" dirty="0"/>
              <a:t>Waterfall Chart</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4"/>
          </p:nvPr>
        </p:nvSpPr>
        <p:spPr>
          <a:xfrm>
            <a:off x="6455121" y="3401100"/>
            <a:ext cx="4249052" cy="1057308"/>
          </a:xfrm>
        </p:spPr>
        <p:txBody>
          <a:bodyPr>
            <a:normAutofit fontScale="85000" lnSpcReduction="20000"/>
          </a:bodyPr>
          <a:lstStyle/>
          <a:p>
            <a:r>
              <a:rPr lang="en-US" dirty="0"/>
              <a:t>This chart is perfect for </a:t>
            </a:r>
            <a:r>
              <a:rPr lang="en-US" b="1" dirty="0"/>
              <a:t>understanding what drove the net change over a period</a:t>
            </a:r>
            <a:r>
              <a:rPr lang="en-US" dirty="0"/>
              <a:t>. It shows each period (e.g., each month) as a bar that either increases or decreases the total, starting from the first price and ending on the last. It visually breaks down which months were the biggest contributors to gains or losses.</a:t>
            </a:r>
          </a:p>
        </p:txBody>
      </p:sp>
      <p:sp>
        <p:nvSpPr>
          <p:cNvPr id="82" name="Slide Number Placeholder 81">
            <a:extLst>
              <a:ext uri="{FF2B5EF4-FFF2-40B4-BE49-F238E27FC236}">
                <a16:creationId xmlns:a16="http://schemas.microsoft.com/office/drawing/2014/main" id="{CE36A058-BEC2-4BC5-A467-F2EB2A365051}"/>
              </a:ext>
            </a:extLst>
          </p:cNvPr>
          <p:cNvSpPr>
            <a:spLocks noGrp="1"/>
          </p:cNvSpPr>
          <p:nvPr>
            <p:ph type="sldNum" sz="quarter" idx="22"/>
          </p:nvPr>
        </p:nvSpPr>
        <p:spPr>
          <a:xfrm>
            <a:off x="8610600" y="6356350"/>
            <a:ext cx="2743200" cy="365125"/>
          </a:xfrm>
        </p:spPr>
        <p:txBody>
          <a:bodyPr/>
          <a:lstStyle/>
          <a:p>
            <a:fld id="{B5CEABB6-07DC-46E8-9B57-56EC44A396E5}" type="slidenum">
              <a:rPr lang="en-US" smtClean="0"/>
              <a:pPr/>
              <a:t>4</a:t>
            </a:fld>
            <a:endParaRPr lang="en-US" dirty="0"/>
          </a:p>
        </p:txBody>
      </p:sp>
      <p:sp>
        <p:nvSpPr>
          <p:cNvPr id="13" name="Text Placeholder 6">
            <a:extLst>
              <a:ext uri="{FF2B5EF4-FFF2-40B4-BE49-F238E27FC236}">
                <a16:creationId xmlns:a16="http://schemas.microsoft.com/office/drawing/2014/main" id="{40955E10-1745-A909-B6E2-E59A18ED745E}"/>
              </a:ext>
            </a:extLst>
          </p:cNvPr>
          <p:cNvSpPr txBox="1">
            <a:spLocks/>
          </p:cNvSpPr>
          <p:nvPr/>
        </p:nvSpPr>
        <p:spPr>
          <a:xfrm>
            <a:off x="4080027" y="4748698"/>
            <a:ext cx="4031945" cy="365125"/>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Donut Chart</a:t>
            </a:r>
          </a:p>
        </p:txBody>
      </p:sp>
      <p:sp>
        <p:nvSpPr>
          <p:cNvPr id="14" name="Text Placeholder 7">
            <a:extLst>
              <a:ext uri="{FF2B5EF4-FFF2-40B4-BE49-F238E27FC236}">
                <a16:creationId xmlns:a16="http://schemas.microsoft.com/office/drawing/2014/main" id="{88ACD052-C9D1-51B3-AA02-EFFA92A6CDE1}"/>
              </a:ext>
            </a:extLst>
          </p:cNvPr>
          <p:cNvSpPr txBox="1">
            <a:spLocks/>
          </p:cNvSpPr>
          <p:nvPr/>
        </p:nvSpPr>
        <p:spPr>
          <a:xfrm>
            <a:off x="4080027" y="5481604"/>
            <a:ext cx="4031030" cy="1057308"/>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provides a quick, </a:t>
            </a:r>
            <a:r>
              <a:rPr lang="en-US" b="1" dirty="0"/>
              <a:t>at-a-glance view of market sentiment</a:t>
            </a:r>
            <a:r>
              <a:rPr lang="en-US" dirty="0"/>
              <a:t>. The proportion of green ("Up") to red ("Down") slices instantly tells you if the selected period was mostly bullish or bearish for the stock.</a:t>
            </a:r>
            <a:br>
              <a:rPr lang="en-US" dirty="0"/>
            </a:br>
            <a:endParaRPr lang="en-US" dirty="0"/>
          </a:p>
        </p:txBody>
      </p:sp>
    </p:spTree>
    <p:extLst>
      <p:ext uri="{BB962C8B-B14F-4D97-AF65-F5344CB8AC3E}">
        <p14:creationId xmlns:p14="http://schemas.microsoft.com/office/powerpoint/2010/main" val="1593920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508760" y="4156405"/>
            <a:ext cx="2809743" cy="1325563"/>
          </a:xfrm>
        </p:spPr>
        <p:txBody>
          <a:bodyPr/>
          <a:lstStyle/>
          <a:p>
            <a:r>
              <a:rPr lang="en-US" dirty="0"/>
              <a:t>Project OVERVIEW</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19680" y="584462"/>
            <a:ext cx="5433204" cy="365125"/>
          </a:xfrm>
        </p:spPr>
        <p:txBody>
          <a:bodyPr vert="horz" lIns="91440" tIns="45720" rIns="91440" bIns="45720" rtlCol="0" anchor="t">
            <a:normAutofit lnSpcReduction="10000"/>
          </a:bodyPr>
          <a:lstStyle/>
          <a:p>
            <a:r>
              <a:rPr lang="en-US" b="1" dirty="0"/>
              <a:t>Overview:</a:t>
            </a:r>
            <a:endParaRPr lang="en-US" dirty="0"/>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5</a:t>
            </a:fld>
            <a:endParaRPr lang="en-US" dirty="0"/>
          </a:p>
        </p:txBody>
      </p:sp>
      <p:sp>
        <p:nvSpPr>
          <p:cNvPr id="27" name="Text Placeholder 26">
            <a:extLst>
              <a:ext uri="{FF2B5EF4-FFF2-40B4-BE49-F238E27FC236}">
                <a16:creationId xmlns:a16="http://schemas.microsoft.com/office/drawing/2014/main" id="{CDF1A59C-C08E-1203-FFEF-3FBB012BBA06}"/>
              </a:ext>
            </a:extLst>
          </p:cNvPr>
          <p:cNvSpPr>
            <a:spLocks noGrp="1"/>
          </p:cNvSpPr>
          <p:nvPr>
            <p:ph type="body" sz="quarter" idx="28"/>
          </p:nvPr>
        </p:nvSpPr>
        <p:spPr>
          <a:xfrm>
            <a:off x="5919680" y="949587"/>
            <a:ext cx="5694468" cy="1875094"/>
          </a:xfrm>
        </p:spPr>
        <p:txBody>
          <a:bodyPr>
            <a:normAutofit/>
          </a:bodyPr>
          <a:lstStyle/>
          <a:p>
            <a:r>
              <a:rPr lang="en-US" dirty="0"/>
              <a:t>This interactive analysis tracks the performance of a select technology portfolio from February to May 2023. The dashboard is designed to answer three key questions: What is the current status? What has been the historical trend? And what was the market's daily behavior?</a:t>
            </a:r>
          </a:p>
        </p:txBody>
      </p:sp>
      <p:sp>
        <p:nvSpPr>
          <p:cNvPr id="28" name="Content Placeholder 2">
            <a:extLst>
              <a:ext uri="{FF2B5EF4-FFF2-40B4-BE49-F238E27FC236}">
                <a16:creationId xmlns:a16="http://schemas.microsoft.com/office/drawing/2014/main" id="{31D469EF-2F0B-F2AD-C9E1-6DDF4969C362}"/>
              </a:ext>
            </a:extLst>
          </p:cNvPr>
          <p:cNvSpPr txBox="1">
            <a:spLocks/>
          </p:cNvSpPr>
          <p:nvPr/>
        </p:nvSpPr>
        <p:spPr>
          <a:xfrm>
            <a:off x="5919680" y="2459556"/>
            <a:ext cx="5433204" cy="365125"/>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Key Insights from the Data:</a:t>
            </a:r>
            <a:endParaRPr lang="en-US" dirty="0"/>
          </a:p>
        </p:txBody>
      </p:sp>
      <p:sp>
        <p:nvSpPr>
          <p:cNvPr id="29" name="Text Placeholder 26">
            <a:extLst>
              <a:ext uri="{FF2B5EF4-FFF2-40B4-BE49-F238E27FC236}">
                <a16:creationId xmlns:a16="http://schemas.microsoft.com/office/drawing/2014/main" id="{889E6A7A-D311-8E49-CBAB-3A2830E4A6F9}"/>
              </a:ext>
            </a:extLst>
          </p:cNvPr>
          <p:cNvSpPr txBox="1">
            <a:spLocks/>
          </p:cNvSpPr>
          <p:nvPr/>
        </p:nvSpPr>
        <p:spPr>
          <a:xfrm>
            <a:off x="5919680" y="2944092"/>
            <a:ext cx="5694468" cy="377738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Market Recovery:</a:t>
            </a:r>
            <a:r>
              <a:rPr lang="en-US" dirty="0"/>
              <a:t> The portfolio experienced a significant upward trajectory in mid-March, with most stocks recovering from their Q1 lows and testing new yearly highs by April.</a:t>
            </a:r>
          </a:p>
          <a:p>
            <a:r>
              <a:rPr lang="en-US" b="1" dirty="0"/>
              <a:t>Sector Divergence:</a:t>
            </a:r>
            <a:r>
              <a:rPr lang="en-US" dirty="0"/>
              <a:t> Not all tech stocks moved in lockstep. [You could insert a specific example here, e.g., "While AAPL and MSFT showed steady growth, NFLX demonstrated higher volatility."]</a:t>
            </a:r>
          </a:p>
          <a:p>
            <a:r>
              <a:rPr lang="en-US" b="1" dirty="0"/>
              <a:t>Volume-Price Correlation:</a:t>
            </a:r>
            <a:r>
              <a:rPr lang="en-US" dirty="0"/>
              <a:t> Major price moves were often confirmed by spikes in trading volume (visible in the Volume chart), indicating strong institutional interest.</a:t>
            </a:r>
          </a:p>
          <a:p>
            <a:r>
              <a:rPr lang="en-US" b="1" dirty="0"/>
              <a:t>Prevailing Sentiment:</a:t>
            </a:r>
            <a:r>
              <a:rPr lang="en-US" dirty="0"/>
              <a:t> The 'Market Sentiment' donut chart reveals that bullish (green) days outnumbered bearish (red) days for most tickers during this period, confirming a positive underlying trend.</a:t>
            </a:r>
          </a:p>
        </p:txBody>
      </p:sp>
    </p:spTree>
    <p:extLst>
      <p:ext uri="{BB962C8B-B14F-4D97-AF65-F5344CB8AC3E}">
        <p14:creationId xmlns:p14="http://schemas.microsoft.com/office/powerpoint/2010/main" val="1844941827"/>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6966C46A-DC57-4209-80CD-9FE6C93151F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125</TotalTime>
  <Words>564</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Tenorite</vt:lpstr>
      <vt:lpstr>Monoline</vt:lpstr>
      <vt:lpstr>Stock market analysis</vt:lpstr>
      <vt:lpstr>ABOUT project</vt:lpstr>
      <vt:lpstr>Power BI dashboard overview</vt:lpstr>
      <vt:lpstr>PowerPoint Presentation</vt:lpstr>
      <vt:lpstr>Project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prem dharmik</dc:creator>
  <cp:lastModifiedBy>prem dharmik</cp:lastModifiedBy>
  <cp:revision>20</cp:revision>
  <dcterms:created xsi:type="dcterms:W3CDTF">2025-11-01T10:05:41Z</dcterms:created>
  <dcterms:modified xsi:type="dcterms:W3CDTF">2025-11-01T14:28:28Z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